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6f92357-f483-9602-8e3e-692de0277ab6}">
          <p14:sldIdLst>
            <p14:sldId id="256"/>
            <p14:sldId id="257"/>
          </p14:sldIdLst>
        </p14:section>
        <p14:section name="Section 1" id="{0d6832ea-d548-51fd-f6eb-b9f302434f2b}">
          <p14:sldIdLst>
            <p14:sldId id="258"/>
            <p14:sldId id="259"/>
            <p14:sldId id="260"/>
          </p14:sldIdLst>
        </p14:section>
        <p14:section name="Section 2" id="{3ecd2505-ea54-b6fc-02c4-1f915361a607}">
          <p14:sldIdLst>
            <p14:sldId id="261"/>
            <p14:sldId id="262"/>
          </p14:sldIdLst>
        </p14:section>
        <p14:section name="Elements" id="{9b8fcda6-09db-8f53-ee88-6dc1e95c9cd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ing" id="{808bd68a-0d0e-438a-b2d4-fae7bf7b6608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Equations are images rendered with LaTeX (Latin Modern) from pptx/equations.tex. To write new ones, use Insert &gt; Equation, or render them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Beamer this list is revealed item by item. In PowerPoint, select the list and add Animations &gt; Appear, with Effect Options &gt; By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RNS-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RNS-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RNS-Subsection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RNS-Content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RNS-Content-with-Subtitle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RNS-Title-Only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CRNS-Standou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432304"/>
            <a:ext cx="8001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3017520"/>
            <a:ext cx="8001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Subtitle</a:t>
            </a:r>
            <a:endParaRPr lang="en-US" sz="2100" dirty="0"/>
          </a:p>
        </p:txBody>
      </p:sp>
      <p:sp>
        <p:nvSpPr>
          <p:cNvPr id="4" name="Shape 0"/>
          <p:cNvSpPr/>
          <p:nvPr/>
        </p:nvSpPr>
        <p:spPr>
          <a:xfrm>
            <a:off x="758952" y="3648456"/>
            <a:ext cx="8001000" cy="0"/>
          </a:xfrm>
          <a:prstGeom prst="line">
            <a:avLst/>
          </a:prstGeom>
          <a:noFill/>
          <a:ln w="10795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58952" y="4288536"/>
            <a:ext cx="8001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Author</a:t>
            </a:r>
            <a:endParaRPr lang="en-US" sz="3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58952" y="4800600"/>
            <a:ext cx="8001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Position, affiliation</a:t>
            </a:r>
            <a:endParaRPr lang="en-US" sz="1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58952" y="5623560"/>
            <a:ext cx="8001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Email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2350008" y="2514600"/>
            <a:ext cx="7479792" cy="48463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ub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08" y="2437790"/>
            <a:ext cx="7479792" cy="48463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2350008" y="2971800"/>
            <a:ext cx="74797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Content with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pic>
        <p:nvPicPr>
          <p:cNvPr id="3" name="Image 0" descr="../build/pptx/eq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731520"/>
            <a:ext cx="580843" cy="301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1755648" y="676656"/>
            <a:ext cx="9966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i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900" i="1" dirty="0">
                <a:solidFill>
                  <a:schemeClr val="tx2"/>
                </a:solidFill>
              </a:rPr>
              <a:t>Slide subtitle</a:t>
            </a:r>
            <a:endParaRPr lang="en-US" sz="19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Title Onl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tandou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743200"/>
            <a:ext cx="10673791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Closing message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xample.net/tikz/examples/rotated-polygons/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432304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30175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Subtitle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58952" y="4288536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Achraf Ben-Hamadou</a:t>
            </a:r>
            <a:endParaRPr lang="en-US" sz="3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58952" y="480060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Assistant Professor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Digital Research Centre of Sfax</a:t>
            </a:r>
            <a:endParaRPr lang="en-US" sz="17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58952" y="56235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achraf.benhamadou@crns.rnrt.tn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Section 1</a:t>
            </a:r>
            <a:endParaRPr lang="en-US" sz="1700" dirty="0"/>
          </a:p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Section 2</a:t>
            </a:r>
            <a:endParaRPr lang="en-US" sz="1700" dirty="0"/>
          </a:p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Elements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1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1319963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Slide's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Slide's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55648" y="6766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chemeClr val="tx2"/>
                </a:solidFill>
              </a:rPr>
              <a:t>Slide's subtitle</a:t>
            </a:r>
            <a:endParaRPr lang="en-US" sz="19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 the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CRNS Content with Subtitle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layout to show a subtitle under the frame title, as Beamer does with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\begin{frame}{Title}{Subtitle}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2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2639927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2350008" y="2971800"/>
            <a:ext cx="7479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1.  Section 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2.  Section 2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      Sub-section 2.1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3.  Elements</a:t>
            </a:r>
            <a:endParaRPr lang="en-US" sz="2100" dirty="0"/>
          </a:p>
        </p:txBody>
      </p:sp>
      <p:sp>
        <p:nvSpPr>
          <p:cNvPr id="3" name="Progress"/>
          <p:cNvSpPr/>
          <p:nvPr/>
        </p:nvSpPr>
        <p:spPr>
          <a:xfrm>
            <a:off x="2350008" y="2437790"/>
            <a:ext cx="3079914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Elements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3519902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Typography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theme provides sensible defaults to </a:t>
            </a:r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emphasize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text,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accent1"/>
                </a:solidFill>
              </a:rPr>
              <a:t>accent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parts or show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bold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results.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Font feature test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Regular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cap="small" lang="en-US" sz="1700" dirty="0">
                <a:solidFill>
                  <a:schemeClr val="tx1"/>
                </a:solidFill>
              </a:rPr>
              <a:t>Small Caps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Bold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i="1" dirty="0">
                <a:solidFill>
                  <a:schemeClr val="tx1"/>
                </a:solidFill>
              </a:rPr>
              <a:t>Bold 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cap="small" lang="en-US" sz="1700" b="1" dirty="0">
                <a:solidFill>
                  <a:schemeClr val="tx1"/>
                </a:solidFill>
              </a:rPr>
              <a:t>Bold Small Caps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Bold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i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Bold Italic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Mathematics</a:t>
            </a:r>
            <a:endParaRPr lang="en-US" sz="3000" dirty="0"/>
          </a:p>
        </p:txBody>
      </p:sp>
      <p:sp>
        <p:nvSpPr>
          <p:cNvPr id="3" name="Label: Fourier transform and Basel problem"/>
          <p:cNvSpPr txBox="1"/>
          <p:nvPr/>
        </p:nvSpPr>
        <p:spPr>
          <a:xfrm>
            <a:off x="758952" y="1234440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Fourier transform and Basel problem</a:t>
            </a:r>
            <a:endParaRPr lang="en-US" sz="1700" dirty="0"/>
          </a:p>
        </p:txBody>
      </p:sp>
      <p:pic>
        <p:nvPicPr>
          <p:cNvPr id="4" name="Equation: Fourier transform and Basel problem" descr="Fourier transform of f, and the sum of 1 over n squared equals pi squared over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746" y="1618488"/>
            <a:ext cx="4401308" cy="711250"/>
          </a:xfrm>
          <a:prstGeom prst="rect">
            <a:avLst/>
          </a:prstGeom>
        </p:spPr>
      </p:pic>
      <p:sp>
        <p:nvSpPr>
          <p:cNvPr id="5" name="Label: Variational lower bound"/>
          <p:cNvSpPr txBox="1"/>
          <p:nvPr/>
        </p:nvSpPr>
        <p:spPr>
          <a:xfrm>
            <a:off x="758952" y="2622346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Variational lower bound</a:t>
            </a:r>
            <a:endParaRPr lang="en-US" sz="1700" dirty="0"/>
          </a:p>
        </p:txBody>
      </p:sp>
      <p:pic>
        <p:nvPicPr>
          <p:cNvPr id="6" name="Equation: Variational lower bound" descr="Evidence lower bound: log p(x) is at least the expected log-likelihood minus a KL diverg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13" y="3006394"/>
            <a:ext cx="3427974" cy="695119"/>
          </a:xfrm>
          <a:prstGeom prst="rect">
            <a:avLst/>
          </a:prstGeom>
        </p:spPr>
      </p:pic>
      <p:sp>
        <p:nvSpPr>
          <p:cNvPr id="7" name="Label: Scaled dot-product attention"/>
          <p:cNvSpPr txBox="1"/>
          <p:nvPr/>
        </p:nvSpPr>
        <p:spPr>
          <a:xfrm>
            <a:off x="758952" y="3994121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Scaled dot-product attention</a:t>
            </a:r>
            <a:endParaRPr lang="en-US" sz="1700" dirty="0"/>
          </a:p>
        </p:txBody>
      </p:sp>
      <p:pic>
        <p:nvPicPr>
          <p:cNvPr id="8" name="Equation: Scaled dot-product attention" descr="Attention of Q, K, V equals softmax of Q K transpose over square root of d k, times 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574" y="4378169"/>
            <a:ext cx="3985652" cy="616182"/>
          </a:xfrm>
          <a:prstGeom prst="rect">
            <a:avLst/>
          </a:prstGeom>
        </p:spPr>
      </p:pic>
      <p:sp>
        <p:nvSpPr>
          <p:cNvPr id="9" name="Label: Diffusion forward process"/>
          <p:cNvSpPr txBox="1"/>
          <p:nvPr/>
        </p:nvSpPr>
        <p:spPr>
          <a:xfrm>
            <a:off x="6095848" y="1234440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Diffusion forward process</a:t>
            </a:r>
            <a:endParaRPr lang="en-US" sz="1700" dirty="0"/>
          </a:p>
        </p:txBody>
      </p:sp>
      <p:pic>
        <p:nvPicPr>
          <p:cNvPr id="10" name="Equation: Diffusion forward process" descr="Gaussian forward diffusion process q of x t given x t minus 1, and given x 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94" y="1618488"/>
            <a:ext cx="3780803" cy="1462657"/>
          </a:xfrm>
          <a:prstGeom prst="rect">
            <a:avLst/>
          </a:prstGeom>
        </p:spPr>
      </p:pic>
      <p:sp>
        <p:nvSpPr>
          <p:cNvPr id="11" name="Label: Matrices and cases"/>
          <p:cNvSpPr txBox="1"/>
          <p:nvPr/>
        </p:nvSpPr>
        <p:spPr>
          <a:xfrm>
            <a:off x="6095848" y="3373753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Matrices and cases</a:t>
            </a:r>
            <a:endParaRPr lang="en-US" sz="1700" dirty="0"/>
          </a:p>
        </p:txBody>
      </p:sp>
      <p:pic>
        <p:nvPicPr>
          <p:cNvPr id="12" name="Equation: Matrices and cases" descr="2 by 2 rotation matrix, and the ReLU function defined by cas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465" y="3757801"/>
            <a:ext cx="5011661" cy="728565"/>
          </a:xfrm>
          <a:prstGeom prst="rect">
            <a:avLst/>
          </a:prstGeom>
        </p:spPr>
      </p:pic>
      <p:sp>
        <p:nvSpPr>
          <p:cNvPr id="13" name="Label: Alphabets"/>
          <p:cNvSpPr txBox="1"/>
          <p:nvPr/>
        </p:nvSpPr>
        <p:spPr>
          <a:xfrm>
            <a:off x="6095848" y="4778974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Alphabets</a:t>
            </a:r>
            <a:endParaRPr lang="en-US" sz="1700" dirty="0"/>
          </a:p>
        </p:txBody>
      </p:sp>
      <p:pic>
        <p:nvPicPr>
          <p:cNvPr id="14" name="Equation: Alphabets" descr="Greek, upright Greek, blackboard, calligraphic and bold lett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074" y="5163022"/>
            <a:ext cx="4366442" cy="2807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Items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Milk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Eggs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Potatoes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316882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Enumerations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16882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First,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Second and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Last.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74813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Descriptions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74813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PowerPoint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Meeh.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Beamer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Yeeeha.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Animation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</a:rPr>
              <a:t>This is really important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Now this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And now this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Figures</a:t>
            </a:r>
            <a:endParaRPr lang="en-US" sz="3000" dirty="0"/>
          </a:p>
        </p:txBody>
      </p:sp>
      <p:pic>
        <p:nvPicPr>
          <p:cNvPr id="3" name="Figure: rotated squares" descr="Nested squares, each rotated slightly, shaded from light to dark 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2329" y="1325880"/>
            <a:ext cx="4107036" cy="39284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" y="5364068"/>
            <a:ext cx="106737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Figure 1: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Rotated square from </a:t>
            </a:r>
            <a:pPr algn="ctr" indent="0" marL="0">
              <a:buNone/>
            </a:pPr>
            <a:r>
              <a:rPr lang="en-US" sz="15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texample.net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057400"/>
            <a:ext cx="106737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Table 1: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Largest cities in the world (source: Wikipedia)</a:t>
            </a:r>
            <a:endParaRPr lang="en-US" sz="1500" dirty="0"/>
          </a:p>
        </p:txBody>
      </p:sp>
      <p:graphicFrame>
        <p:nvGraphicFramePr>
          <p:cNvPr id="16" name="Table: largest cit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92728" y="251460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Mexico City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20,116,842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Shanghai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19,210,000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Peking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15,796,450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Istanbul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14,160,467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01168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Three different block styles are pre-defined, with or without a background.</a:t>
            </a:r>
            <a:endParaRPr lang="en-US" sz="1700" dirty="0"/>
          </a:p>
        </p:txBody>
      </p:sp>
      <p:sp>
        <p:nvSpPr>
          <p:cNvPr id="4" name="Block title: Default"/>
          <p:cNvSpPr txBox="1"/>
          <p:nvPr/>
        </p:nvSpPr>
        <p:spPr>
          <a:xfrm>
            <a:off x="758952" y="26060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Default</a:t>
            </a:r>
            <a:endParaRPr lang="en-US" sz="1700" dirty="0"/>
          </a:p>
        </p:txBody>
      </p:sp>
      <p:sp>
        <p:nvSpPr>
          <p:cNvPr id="5" name="Block body: Default"/>
          <p:cNvSpPr txBox="1"/>
          <p:nvPr/>
        </p:nvSpPr>
        <p:spPr>
          <a:xfrm>
            <a:off x="758952" y="28035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6" name="Block title: Alert"/>
          <p:cNvSpPr txBox="1"/>
          <p:nvPr/>
        </p:nvSpPr>
        <p:spPr>
          <a:xfrm>
            <a:off x="758952" y="3291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Alert</a:t>
            </a:r>
            <a:endParaRPr lang="en-US" sz="1700" dirty="0"/>
          </a:p>
        </p:txBody>
      </p:sp>
      <p:sp>
        <p:nvSpPr>
          <p:cNvPr id="7" name="Block body: Alert"/>
          <p:cNvSpPr txBox="1"/>
          <p:nvPr/>
        </p:nvSpPr>
        <p:spPr>
          <a:xfrm>
            <a:off x="758952" y="34893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8" name="Block title: Example"/>
          <p:cNvSpPr txBox="1"/>
          <p:nvPr/>
        </p:nvSpPr>
        <p:spPr>
          <a:xfrm>
            <a:off x="758952" y="3977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Example</a:t>
            </a:r>
            <a:endParaRPr lang="en-US" sz="1700" dirty="0"/>
          </a:p>
        </p:txBody>
      </p:sp>
      <p:sp>
        <p:nvSpPr>
          <p:cNvPr id="9" name="Block body: Example"/>
          <p:cNvSpPr txBox="1"/>
          <p:nvPr/>
        </p:nvSpPr>
        <p:spPr>
          <a:xfrm>
            <a:off x="758952" y="41751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0" name="Filled block title: Default"/>
          <p:cNvSpPr txBox="1"/>
          <p:nvPr/>
        </p:nvSpPr>
        <p:spPr>
          <a:xfrm>
            <a:off x="6089904" y="260604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Default</a:t>
            </a:r>
            <a:endParaRPr lang="en-US" sz="1700" dirty="0"/>
          </a:p>
        </p:txBody>
      </p:sp>
      <p:sp>
        <p:nvSpPr>
          <p:cNvPr id="11" name="Filled block body: Default"/>
          <p:cNvSpPr txBox="1"/>
          <p:nvPr/>
        </p:nvSpPr>
        <p:spPr>
          <a:xfrm>
            <a:off x="6089904" y="293522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2" name="Filled block title: Alert"/>
          <p:cNvSpPr txBox="1"/>
          <p:nvPr/>
        </p:nvSpPr>
        <p:spPr>
          <a:xfrm>
            <a:off x="6089904" y="347472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Alert</a:t>
            </a:r>
            <a:endParaRPr lang="en-US" sz="1700" dirty="0"/>
          </a:p>
        </p:txBody>
      </p:sp>
      <p:sp>
        <p:nvSpPr>
          <p:cNvPr id="13" name="Filled block body: Alert"/>
          <p:cNvSpPr txBox="1"/>
          <p:nvPr/>
        </p:nvSpPr>
        <p:spPr>
          <a:xfrm>
            <a:off x="6089904" y="380390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4" name="Filled block title: Example"/>
          <p:cNvSpPr txBox="1"/>
          <p:nvPr/>
        </p:nvSpPr>
        <p:spPr>
          <a:xfrm>
            <a:off x="6089904" y="434340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Example</a:t>
            </a:r>
            <a:endParaRPr lang="en-US" sz="1700" dirty="0"/>
          </a:p>
        </p:txBody>
      </p:sp>
      <p:sp>
        <p:nvSpPr>
          <p:cNvPr id="15" name="Filled block body: Example"/>
          <p:cNvSpPr txBox="1"/>
          <p:nvPr/>
        </p:nvSpPr>
        <p:spPr>
          <a:xfrm>
            <a:off x="6089904" y="467258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743200"/>
            <a:ext cx="106737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Thanks for your attention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NS darkred">
  <a:themeElements>
    <a:clrScheme name="CRNS darkred">
      <a:dk1>
        <a:srgbClr val="23373B"/>
      </a:dk1>
      <a:lt1>
        <a:srgbClr val="FFFFFF"/>
      </a:lt1>
      <a:dk2>
        <a:srgbClr val="AE2626"/>
      </a:dk2>
      <a:lt2>
        <a:srgbClr val="FAFAFA"/>
      </a:lt2>
      <a:accent1>
        <a:srgbClr val="AE2626"/>
      </a:accent1>
      <a:accent2>
        <a:srgbClr val="1F6F6B"/>
      </a:accent2>
      <a:accent3>
        <a:srgbClr val="23373B"/>
      </a:accent3>
      <a:accent4>
        <a:srgbClr val="CFD3D4"/>
      </a:accent4>
      <a:accent5>
        <a:srgbClr val="E5E6E7"/>
      </a:accent5>
      <a:accent6>
        <a:srgbClr val="CDB8B8"/>
      </a:accent6>
      <a:hlink>
        <a:srgbClr val="AE2626"/>
      </a:hlink>
      <a:folHlink>
        <a:srgbClr val="7A1B1B"/>
      </a:folHlink>
    </a:clrScheme>
    <a:fontScheme name="CRNS darkred">
      <a:majorFont>
        <a:latin typeface="Kuri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uri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CRNS presentation template</dc:title>
  <dc:subject>PptxGenJS Presentation</dc:subject>
  <dc:creator>Achraf Ben-Hamadou</dc:creator>
  <cp:lastModifiedBy>Achraf Ben-Hamadou</cp:lastModifiedBy>
  <cp:revision>1</cp:revision>
  <dcterms:created xsi:type="dcterms:W3CDTF">2026-10-30T08:30:52Z</dcterms:created>
  <dcterms:modified xsi:type="dcterms:W3CDTF">2026-10-30T08:30:52Z</dcterms:modified>
</cp:coreProperties>
</file>